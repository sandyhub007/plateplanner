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43891200" cy="32918400"/>
  <p:notesSz cx="6858000" cy="9144000"/>
  <p:defaultTextStyle>
    <a:defPPr>
      <a:defRPr lang="en-US"/>
    </a:defPPr>
    <a:lvl1pPr algn="l" rtl="0" fontAlgn="base">
      <a:spcBef>
        <a:spcPct val="0"/>
      </a:spcBef>
      <a:spcAft>
        <a:spcPct val="0"/>
      </a:spcAft>
      <a:defRPr sz="2880" kern="1200">
        <a:solidFill>
          <a:schemeClr val="tx1"/>
        </a:solidFill>
        <a:latin typeface="Arial Narrow" pitchFamily="34" charset="0"/>
        <a:ea typeface="+mn-ea"/>
        <a:cs typeface="Arial" charset="0"/>
      </a:defRPr>
    </a:lvl1pPr>
    <a:lvl2pPr marL="455273" indent="93341" algn="l" rtl="0" fontAlgn="base">
      <a:spcBef>
        <a:spcPct val="0"/>
      </a:spcBef>
      <a:spcAft>
        <a:spcPct val="0"/>
      </a:spcAft>
      <a:defRPr sz="2880" kern="1200">
        <a:solidFill>
          <a:schemeClr val="tx1"/>
        </a:solidFill>
        <a:latin typeface="Arial Narrow" pitchFamily="34" charset="0"/>
        <a:ea typeface="+mn-ea"/>
        <a:cs typeface="Arial" charset="0"/>
      </a:defRPr>
    </a:lvl2pPr>
    <a:lvl3pPr marL="912450" indent="184776" algn="l" rtl="0" fontAlgn="base">
      <a:spcBef>
        <a:spcPct val="0"/>
      </a:spcBef>
      <a:spcAft>
        <a:spcPct val="0"/>
      </a:spcAft>
      <a:defRPr sz="2880" kern="1200">
        <a:solidFill>
          <a:schemeClr val="tx1"/>
        </a:solidFill>
        <a:latin typeface="Arial Narrow" pitchFamily="34" charset="0"/>
        <a:ea typeface="+mn-ea"/>
        <a:cs typeface="Arial" charset="0"/>
      </a:defRPr>
    </a:lvl3pPr>
    <a:lvl4pPr marL="1369627" indent="276212" algn="l" rtl="0" fontAlgn="base">
      <a:spcBef>
        <a:spcPct val="0"/>
      </a:spcBef>
      <a:spcAft>
        <a:spcPct val="0"/>
      </a:spcAft>
      <a:defRPr sz="2880" kern="1200">
        <a:solidFill>
          <a:schemeClr val="tx1"/>
        </a:solidFill>
        <a:latin typeface="Arial Narrow" pitchFamily="34" charset="0"/>
        <a:ea typeface="+mn-ea"/>
        <a:cs typeface="Arial" charset="0"/>
      </a:defRPr>
    </a:lvl4pPr>
    <a:lvl5pPr marL="1826804" indent="367647" algn="l" rtl="0" fontAlgn="base">
      <a:spcBef>
        <a:spcPct val="0"/>
      </a:spcBef>
      <a:spcAft>
        <a:spcPct val="0"/>
      </a:spcAft>
      <a:defRPr sz="2880" kern="1200">
        <a:solidFill>
          <a:schemeClr val="tx1"/>
        </a:solidFill>
        <a:latin typeface="Arial Narrow" pitchFamily="34" charset="0"/>
        <a:ea typeface="+mn-ea"/>
        <a:cs typeface="Arial" charset="0"/>
      </a:defRPr>
    </a:lvl5pPr>
    <a:lvl6pPr marL="2743063" algn="l" defTabSz="1097225" rtl="0" eaLnBrk="1" latinLnBrk="0" hangingPunct="1">
      <a:defRPr sz="2880" kern="1200">
        <a:solidFill>
          <a:schemeClr val="tx1"/>
        </a:solidFill>
        <a:latin typeface="Arial Narrow" pitchFamily="34" charset="0"/>
        <a:ea typeface="+mn-ea"/>
        <a:cs typeface="Arial" charset="0"/>
      </a:defRPr>
    </a:lvl6pPr>
    <a:lvl7pPr marL="3291676" algn="l" defTabSz="1097225" rtl="0" eaLnBrk="1" latinLnBrk="0" hangingPunct="1">
      <a:defRPr sz="2880" kern="1200">
        <a:solidFill>
          <a:schemeClr val="tx1"/>
        </a:solidFill>
        <a:latin typeface="Arial Narrow" pitchFamily="34" charset="0"/>
        <a:ea typeface="+mn-ea"/>
        <a:cs typeface="Arial" charset="0"/>
      </a:defRPr>
    </a:lvl7pPr>
    <a:lvl8pPr marL="3840288" algn="l" defTabSz="1097225" rtl="0" eaLnBrk="1" latinLnBrk="0" hangingPunct="1">
      <a:defRPr sz="2880" kern="1200">
        <a:solidFill>
          <a:schemeClr val="tx1"/>
        </a:solidFill>
        <a:latin typeface="Arial Narrow" pitchFamily="34" charset="0"/>
        <a:ea typeface="+mn-ea"/>
        <a:cs typeface="Arial" charset="0"/>
      </a:defRPr>
    </a:lvl8pPr>
    <a:lvl9pPr marL="4388901" algn="l" defTabSz="1097225" rtl="0" eaLnBrk="1" latinLnBrk="0" hangingPunct="1">
      <a:defRPr sz="2880" kern="1200">
        <a:solidFill>
          <a:schemeClr val="tx1"/>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3552" userDrawn="1">
          <p15:clr>
            <a:srgbClr val="A4A3A4"/>
          </p15:clr>
        </p15:guide>
        <p15:guide id="2" orient="horz" pos="20285" userDrawn="1">
          <p15:clr>
            <a:srgbClr val="A4A3A4"/>
          </p15:clr>
        </p15:guide>
        <p15:guide id="3" pos="437" userDrawn="1">
          <p15:clr>
            <a:srgbClr val="A4A3A4"/>
          </p15:clr>
        </p15:guide>
        <p15:guide id="4" pos="6725" userDrawn="1">
          <p15:clr>
            <a:srgbClr val="A4A3A4"/>
          </p15:clr>
        </p15:guide>
        <p15:guide id="5" pos="7239" userDrawn="1">
          <p15:clr>
            <a:srgbClr val="A4A3A4"/>
          </p15:clr>
        </p15:guide>
        <p15:guide id="6" pos="13527" userDrawn="1">
          <p15:clr>
            <a:srgbClr val="A4A3A4"/>
          </p15:clr>
        </p15:guide>
        <p15:guide id="7" pos="14031" userDrawn="1">
          <p15:clr>
            <a:srgbClr val="A4A3A4"/>
          </p15:clr>
        </p15:guide>
        <p15:guide id="8" pos="20319" userDrawn="1">
          <p15:clr>
            <a:srgbClr val="A4A3A4"/>
          </p15:clr>
        </p15:guide>
        <p15:guide id="9" pos="20837" userDrawn="1">
          <p15:clr>
            <a:srgbClr val="A4A3A4"/>
          </p15:clr>
        </p15:guide>
        <p15:guide id="10" pos="271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Harkey" initials="DH" lastIdx="3" clrIdx="0">
    <p:extLst>
      <p:ext uri="{19B8F6BF-5375-455C-9EA6-DF929625EA0E}">
        <p15:presenceInfo xmlns:p15="http://schemas.microsoft.com/office/powerpoint/2012/main" userId="Dan Harke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66FF"/>
    <a:srgbClr val="FF9900"/>
    <a:srgbClr val="CC0000"/>
    <a:srgbClr val="993300"/>
    <a:srgbClr val="00990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90" autoAdjust="0"/>
    <p:restoredTop sz="97494" autoAdjust="0"/>
  </p:normalViewPr>
  <p:slideViewPr>
    <p:cSldViewPr snapToGrid="0" snapToObjects="1">
      <p:cViewPr varScale="1">
        <p:scale>
          <a:sx n="19" d="100"/>
          <a:sy n="19" d="100"/>
        </p:scale>
        <p:origin x="148" y="1296"/>
      </p:cViewPr>
      <p:guideLst>
        <p:guide orient="horz" pos="3552"/>
        <p:guide orient="horz" pos="20285"/>
        <p:guide pos="437"/>
        <p:guide pos="6725"/>
        <p:guide pos="7239"/>
        <p:guide pos="13527"/>
        <p:guide pos="14031"/>
        <p:guide pos="20319"/>
        <p:guide pos="20837"/>
        <p:guide pos="2712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0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file>

<file path=ppt/notesMasters/_rels/notesMaster1.xml.rels><?xml version="1.0" encoding="UTF-8"?><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150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0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872BC18A-C5D3-45AC-94DD-D3D25D5ADCCF}" type="slidenum">
              <a:rPr lang="en-US"/>
              <a:pPr>
                <a:defRPr/>
              </a:pPr>
              <a:t>‹#›</a:t>
            </a:fld>
            <a:endParaRPr lang="en-US"/>
          </a:p>
        </p:txBody>
      </p:sp>
    </p:spTree>
    <p:extLst>
      <p:ext uri="{BB962C8B-B14F-4D97-AF65-F5344CB8AC3E}">
        <p14:creationId xmlns:p14="http://schemas.microsoft.com/office/powerpoint/2010/main" val="4103628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273" algn="l" rtl="0" eaLnBrk="0" fontAlgn="base" hangingPunct="0">
      <a:spcBef>
        <a:spcPct val="30000"/>
      </a:spcBef>
      <a:spcAft>
        <a:spcPct val="0"/>
      </a:spcAft>
      <a:defRPr sz="1200" kern="1200">
        <a:solidFill>
          <a:schemeClr val="tx1"/>
        </a:solidFill>
        <a:latin typeface="Arial" charset="0"/>
        <a:ea typeface="+mn-ea"/>
        <a:cs typeface="+mn-cs"/>
      </a:defRPr>
    </a:lvl2pPr>
    <a:lvl3pPr marL="912450" algn="l" rtl="0" eaLnBrk="0" fontAlgn="base" hangingPunct="0">
      <a:spcBef>
        <a:spcPct val="30000"/>
      </a:spcBef>
      <a:spcAft>
        <a:spcPct val="0"/>
      </a:spcAft>
      <a:defRPr sz="1200" kern="1200">
        <a:solidFill>
          <a:schemeClr val="tx1"/>
        </a:solidFill>
        <a:latin typeface="Arial" charset="0"/>
        <a:ea typeface="+mn-ea"/>
        <a:cs typeface="+mn-cs"/>
      </a:defRPr>
    </a:lvl3pPr>
    <a:lvl4pPr marL="1369627" algn="l" rtl="0" eaLnBrk="0" fontAlgn="base" hangingPunct="0">
      <a:spcBef>
        <a:spcPct val="30000"/>
      </a:spcBef>
      <a:spcAft>
        <a:spcPct val="0"/>
      </a:spcAft>
      <a:defRPr sz="1200" kern="1200">
        <a:solidFill>
          <a:schemeClr val="tx1"/>
        </a:solidFill>
        <a:latin typeface="Arial" charset="0"/>
        <a:ea typeface="+mn-ea"/>
        <a:cs typeface="+mn-cs"/>
      </a:defRPr>
    </a:lvl4pPr>
    <a:lvl5pPr marL="1826804" algn="l" rtl="0" eaLnBrk="0" fontAlgn="base" hangingPunct="0">
      <a:spcBef>
        <a:spcPct val="30000"/>
      </a:spcBef>
      <a:spcAft>
        <a:spcPct val="0"/>
      </a:spcAft>
      <a:defRPr sz="1200" kern="1200">
        <a:solidFill>
          <a:schemeClr val="tx1"/>
        </a:solidFill>
        <a:latin typeface="Arial" charset="0"/>
        <a:ea typeface="+mn-ea"/>
        <a:cs typeface="+mn-cs"/>
      </a:defRPr>
    </a:lvl5pPr>
    <a:lvl6pPr marL="2285794" algn="l" defTabSz="914318" rtl="0" eaLnBrk="1" latinLnBrk="0" hangingPunct="1">
      <a:defRPr sz="1200" kern="1200">
        <a:solidFill>
          <a:schemeClr val="tx1"/>
        </a:solidFill>
        <a:latin typeface="+mn-lt"/>
        <a:ea typeface="+mn-ea"/>
        <a:cs typeface="+mn-cs"/>
      </a:defRPr>
    </a:lvl6pPr>
    <a:lvl7pPr marL="2742954" algn="l" defTabSz="914318" rtl="0" eaLnBrk="1" latinLnBrk="0" hangingPunct="1">
      <a:defRPr sz="1200" kern="1200">
        <a:solidFill>
          <a:schemeClr val="tx1"/>
        </a:solidFill>
        <a:latin typeface="+mn-lt"/>
        <a:ea typeface="+mn-ea"/>
        <a:cs typeface="+mn-cs"/>
      </a:defRPr>
    </a:lvl7pPr>
    <a:lvl8pPr marL="3200112" algn="l" defTabSz="914318" rtl="0" eaLnBrk="1" latinLnBrk="0" hangingPunct="1">
      <a:defRPr sz="1200" kern="1200">
        <a:solidFill>
          <a:schemeClr val="tx1"/>
        </a:solidFill>
        <a:latin typeface="+mn-lt"/>
        <a:ea typeface="+mn-ea"/>
        <a:cs typeface="+mn-cs"/>
      </a:defRPr>
    </a:lvl8pPr>
    <a:lvl9pPr marL="3657270" algn="l" defTabSz="9143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p:txBody>
          <a:bodyPr/>
          <a:lstStyle/>
          <a:p>
            <a:pPr>
              <a:defRPr/>
            </a:pPr>
            <a:fld id="{836A3E11-B4C1-4EA7-8D14-2B02FE8FF53A}" type="slidenum">
              <a:rPr lang="en-US" smtClean="0"/>
              <a:pPr>
                <a:defRPr/>
              </a:pPr>
              <a:t>1</a:t>
            </a:fld>
            <a:endParaRPr lang="en-US"/>
          </a:p>
        </p:txBody>
      </p:sp>
      <p:sp>
        <p:nvSpPr>
          <p:cNvPr id="6147" name="Rectangle 2"/>
          <p:cNvSpPr>
            <a:spLocks noGrp="1" noRot="1" noChangeAspect="1" noChangeArrowheads="1" noTextEdit="1"/>
          </p:cNvSpPr>
          <p:nvPr>
            <p:ph type="sldImg"/>
          </p:nvPr>
        </p:nvSpPr>
        <p:spPr>
          <a:xfrm>
            <a:off x="1143000" y="685800"/>
            <a:ext cx="4572000" cy="3429000"/>
          </a:xfrm>
          <a:ln/>
        </p:spPr>
      </p:sp>
      <p:sp>
        <p:nvSpPr>
          <p:cNvPr id="6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7598647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42" y="5638802"/>
            <a:ext cx="21018500"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41" y="5638802"/>
            <a:ext cx="2102008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2" name="Rectangle 36"/>
          <p:cNvSpPr>
            <a:spLocks noChangeArrowheads="1"/>
          </p:cNvSpPr>
          <p:nvPr/>
        </p:nvSpPr>
        <p:spPr bwMode="auto">
          <a:xfrm>
            <a:off x="0" y="0"/>
            <a:ext cx="43891200" cy="4800600"/>
          </a:xfrm>
          <a:prstGeom prst="rect">
            <a:avLst/>
          </a:prstGeom>
          <a:solidFill>
            <a:schemeClr val="accent2"/>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49" name="Rectangle 33"/>
          <p:cNvSpPr>
            <a:spLocks noChangeArrowheads="1"/>
          </p:cNvSpPr>
          <p:nvPr/>
        </p:nvSpPr>
        <p:spPr bwMode="auto">
          <a:xfrm>
            <a:off x="693421" y="5638800"/>
            <a:ext cx="99745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25" name="Rectangle 9"/>
          <p:cNvSpPr>
            <a:spLocks noChangeArrowheads="1"/>
          </p:cNvSpPr>
          <p:nvPr/>
        </p:nvSpPr>
        <p:spPr bwMode="auto">
          <a:xfrm>
            <a:off x="70726" y="4800600"/>
            <a:ext cx="43752273" cy="129540"/>
          </a:xfrm>
          <a:prstGeom prst="rect">
            <a:avLst/>
          </a:prstGeom>
          <a:solidFill>
            <a:srgbClr val="660000"/>
          </a:solidFill>
          <a:ln w="152400">
            <a:solidFill>
              <a:srgbClr val="FF9900"/>
            </a:solidFill>
            <a:miter lim="800000"/>
            <a:headEnd/>
            <a:tailEnd/>
          </a:ln>
          <a:effectLst/>
        </p:spPr>
        <p:txBody>
          <a:bodyPr wrap="none" lIns="81277" tIns="40637" rIns="81277" bIns="40637" anchor="ctr"/>
          <a:lstStyle/>
          <a:p>
            <a:pPr>
              <a:defRPr/>
            </a:pPr>
            <a:endParaRPr lang="en-US" sz="2195">
              <a:cs typeface="+mn-cs"/>
            </a:endParaRPr>
          </a:p>
        </p:txBody>
      </p:sp>
      <p:sp>
        <p:nvSpPr>
          <p:cNvPr id="86030" name="Text Box 14"/>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TEMPLATE DESIGN © 2008</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1030" name="Rectangle 15"/>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1031" name="Rectangle 16"/>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86041" name="Rectangle 25"/>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86048" name="Rectangle 32"/>
          <p:cNvSpPr>
            <a:spLocks noChangeArrowheads="1"/>
          </p:cNvSpPr>
          <p:nvPr/>
        </p:nvSpPr>
        <p:spPr bwMode="auto">
          <a:xfrm>
            <a:off x="11490960" y="5638800"/>
            <a:ext cx="207568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1" name="Rectangle 35"/>
          <p:cNvSpPr>
            <a:spLocks noChangeArrowheads="1"/>
          </p:cNvSpPr>
          <p:nvPr/>
        </p:nvSpPr>
        <p:spPr bwMode="auto">
          <a:xfrm>
            <a:off x="3307842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2" name="Rectangle 1">
            <a:extLst>
              <a:ext uri="{FF2B5EF4-FFF2-40B4-BE49-F238E27FC236}">
                <a16:creationId xmlns:a16="http://schemas.microsoft.com/office/drawing/2014/main" id="{BD2418B9-ADFB-40CA-9C11-58B513E9E879}"/>
              </a:ext>
            </a:extLst>
          </p:cNvPr>
          <p:cNvSpPr/>
          <p:nvPr userDrawn="1"/>
        </p:nvSpPr>
        <p:spPr bwMode="auto">
          <a:xfrm>
            <a:off x="579664" y="32395886"/>
            <a:ext cx="1773691" cy="365352"/>
          </a:xfrm>
          <a:prstGeom prst="rect">
            <a:avLst/>
          </a:prstGeom>
          <a:solidFill>
            <a:schemeClr val="bg1"/>
          </a:solidFill>
          <a:ln w="9525" cap="flat" cmpd="sng" algn="ctr">
            <a:noFill/>
            <a:prstDash val="solid"/>
            <a:round/>
            <a:headEnd type="none" w="med" len="med"/>
            <a:tailEnd type="none" w="med" len="med"/>
          </a:ln>
          <a:effec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7680">
          <a:solidFill>
            <a:srgbClr val="FFFFFF"/>
          </a:solidFill>
          <a:latin typeface="+mj-lt"/>
          <a:ea typeface="+mj-ea"/>
          <a:cs typeface="+mj-cs"/>
        </a:defRPr>
      </a:lvl1pPr>
      <a:lvl2pPr algn="ctr" rtl="0" eaLnBrk="0" fontAlgn="base" hangingPunct="0">
        <a:spcBef>
          <a:spcPct val="0"/>
        </a:spcBef>
        <a:spcAft>
          <a:spcPct val="0"/>
        </a:spcAft>
        <a:defRPr sz="7680">
          <a:solidFill>
            <a:srgbClr val="FFFFFF"/>
          </a:solidFill>
          <a:latin typeface="Arial Black" pitchFamily="34" charset="0"/>
        </a:defRPr>
      </a:lvl2pPr>
      <a:lvl3pPr algn="ctr" rtl="0" eaLnBrk="0" fontAlgn="base" hangingPunct="0">
        <a:spcBef>
          <a:spcPct val="0"/>
        </a:spcBef>
        <a:spcAft>
          <a:spcPct val="0"/>
        </a:spcAft>
        <a:defRPr sz="7680">
          <a:solidFill>
            <a:srgbClr val="FFFFFF"/>
          </a:solidFill>
          <a:latin typeface="Arial Black" pitchFamily="34" charset="0"/>
        </a:defRPr>
      </a:lvl3pPr>
      <a:lvl4pPr algn="ctr" rtl="0" eaLnBrk="0" fontAlgn="base" hangingPunct="0">
        <a:spcBef>
          <a:spcPct val="0"/>
        </a:spcBef>
        <a:spcAft>
          <a:spcPct val="0"/>
        </a:spcAft>
        <a:defRPr sz="7680">
          <a:solidFill>
            <a:srgbClr val="FFFFFF"/>
          </a:solidFill>
          <a:latin typeface="Arial Black" pitchFamily="34" charset="0"/>
        </a:defRPr>
      </a:lvl4pPr>
      <a:lvl5pPr algn="ctr" rtl="0" eaLnBrk="0" fontAlgn="base" hangingPunct="0">
        <a:spcBef>
          <a:spcPct val="0"/>
        </a:spcBef>
        <a:spcAft>
          <a:spcPct val="0"/>
        </a:spcAft>
        <a:defRPr sz="7680">
          <a:solidFill>
            <a:srgbClr val="FFFFFF"/>
          </a:solidFill>
          <a:latin typeface="Arial Black" pitchFamily="34" charset="0"/>
        </a:defRPr>
      </a:lvl5pPr>
      <a:lvl6pPr marL="406374" algn="ctr" rtl="0" fontAlgn="base">
        <a:spcBef>
          <a:spcPct val="0"/>
        </a:spcBef>
        <a:spcAft>
          <a:spcPct val="0"/>
        </a:spcAft>
        <a:defRPr sz="7680">
          <a:solidFill>
            <a:srgbClr val="FFFFFF"/>
          </a:solidFill>
          <a:latin typeface="Arial Black" pitchFamily="34" charset="0"/>
        </a:defRPr>
      </a:lvl6pPr>
      <a:lvl7pPr marL="812748" algn="ctr" rtl="0" fontAlgn="base">
        <a:spcBef>
          <a:spcPct val="0"/>
        </a:spcBef>
        <a:spcAft>
          <a:spcPct val="0"/>
        </a:spcAft>
        <a:defRPr sz="7680">
          <a:solidFill>
            <a:srgbClr val="FFFFFF"/>
          </a:solidFill>
          <a:latin typeface="Arial Black" pitchFamily="34" charset="0"/>
        </a:defRPr>
      </a:lvl7pPr>
      <a:lvl8pPr marL="1219120" algn="ctr" rtl="0" fontAlgn="base">
        <a:spcBef>
          <a:spcPct val="0"/>
        </a:spcBef>
        <a:spcAft>
          <a:spcPct val="0"/>
        </a:spcAft>
        <a:defRPr sz="7680">
          <a:solidFill>
            <a:srgbClr val="FFFFFF"/>
          </a:solidFill>
          <a:latin typeface="Arial Black" pitchFamily="34" charset="0"/>
        </a:defRPr>
      </a:lvl8pPr>
      <a:lvl9pPr marL="1625494" algn="ctr" rtl="0" fontAlgn="base">
        <a:spcBef>
          <a:spcPct val="0"/>
        </a:spcBef>
        <a:spcAft>
          <a:spcPct val="0"/>
        </a:spcAft>
        <a:defRPr sz="7680">
          <a:solidFill>
            <a:srgbClr val="FFFFFF"/>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7" name="Rectangle 3"/>
          <p:cNvSpPr>
            <a:spLocks noChangeArrowheads="1"/>
          </p:cNvSpPr>
          <p:nvPr/>
        </p:nvSpPr>
        <p:spPr bwMode="auto">
          <a:xfrm>
            <a:off x="693421" y="5638800"/>
            <a:ext cx="997458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8"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0229"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2054"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2055" name="Rectangle 7"/>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180233" name="Rectangle 9"/>
          <p:cNvSpPr>
            <a:spLocks noChangeArrowheads="1"/>
          </p:cNvSpPr>
          <p:nvPr/>
        </p:nvSpPr>
        <p:spPr bwMode="auto">
          <a:xfrm>
            <a:off x="11490961" y="5638800"/>
            <a:ext cx="207645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35" name="Rectangle 11"/>
          <p:cNvSpPr>
            <a:spLocks noChangeArrowheads="1"/>
          </p:cNvSpPr>
          <p:nvPr/>
        </p:nvSpPr>
        <p:spPr bwMode="auto">
          <a:xfrm>
            <a:off x="33078420" y="5638800"/>
            <a:ext cx="9982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1" name="Rectangle 3"/>
          <p:cNvSpPr>
            <a:spLocks noChangeArrowheads="1"/>
          </p:cNvSpPr>
          <p:nvPr/>
        </p:nvSpPr>
        <p:spPr bwMode="auto">
          <a:xfrm>
            <a:off x="693420" y="5638800"/>
            <a:ext cx="42367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2"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1253"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3078"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693421" y="5638800"/>
            <a:ext cx="4219194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comments" Target="../comments/comment1.xml"/><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eg"/><Relationship Id="rId16" Type="http://schemas.openxmlformats.org/officeDocument/2006/relationships/image" Target="../media/image13.png"/><Relationship Id="rId17"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Text Box 482"/>
          <p:cNvSpPr txBox="1">
            <a:spLocks noChangeArrowheads="1"/>
          </p:cNvSpPr>
          <p:nvPr/>
        </p:nvSpPr>
        <p:spPr bwMode="auto">
          <a:xfrm>
            <a:off x="33568640" y="17294015"/>
            <a:ext cx="8873067" cy="9554571"/>
          </a:xfrm>
          <a:prstGeom prst="rect">
            <a:avLst/>
          </a:prstGeom>
          <a:noFill/>
          <a:ln w="9525">
            <a:noFill/>
            <a:miter lim="800000"/>
            <a:headEnd/>
            <a:tailEnd/>
          </a:ln>
        </p:spPr>
        <p:txBody>
          <a:bodyPr lIns="406384" tIns="406384" rIns="406384" bIns="406384">
            <a:spAutoFit/>
          </a:bodyPr>
          <a:lstStyle/>
          <a:p>
            <a:pPr defTabSz="3901342"/>
            <a:endParaRPr lang="en-US" sz="2400" dirty="0"/>
          </a:p>
          <a:p>
            <a:pPr>
              <a:spcAft>
                <a:spcPts val="1200"/>
              </a:spcAft>
            </a:pPr>
            <a:r>
              <a:rPr lang="en-US" sz="2400" dirty="0">
                <a:solidFill>
                  <a:srgbClr val="1B3A1C"/>
                </a:solidFill>
                <a:latin typeface="Arial"/>
              </a:rPr>
              <a:t>[1]  N. Reimers, I. Gurevych. “Sentence-BERT: Sentence Embeddings using Siamese BERT-Networks.” EMNLP, 2019.</a:t>
            </a:r>
          </a:p>
          <a:p>
            <a:pPr>
              <a:spcAft>
                <a:spcPts val="1200"/>
              </a:spcAft>
            </a:pPr>
            <a:r>
              <a:rPr lang="en-US" sz="2400" dirty="0">
                <a:solidFill>
                  <a:srgbClr val="1B3A1C"/>
                </a:solidFill>
                <a:latin typeface="Arial"/>
              </a:rPr>
              <a:t>[2]  J. Johnson, M. Douze, H. Jégou. “Billion-scale similarity search with GPUs.” IEEE Trans. Big Data, 7(3):535–547, 2019.</a:t>
            </a:r>
          </a:p>
          <a:p>
            <a:pPr>
              <a:spcAft>
                <a:spcPts val="1200"/>
              </a:spcAft>
            </a:pPr>
            <a:r>
              <a:rPr lang="en-US" sz="2400" dirty="0">
                <a:solidFill>
                  <a:srgbClr val="1B3A1C"/>
                </a:solidFill>
                <a:latin typeface="Arial"/>
              </a:rPr>
              <a:t>[3]  M. Bień et al. “RecipeNLG: A Cooking Recipes Dataset for Semi-Structured Text Generation.” INLG Workshop, 2020.</a:t>
            </a:r>
          </a:p>
          <a:p>
            <a:pPr>
              <a:spcAft>
                <a:spcPts val="1200"/>
              </a:spcAft>
            </a:pPr>
            <a:r>
              <a:rPr lang="en-US" sz="2400" dirty="0">
                <a:solidFill>
                  <a:srgbClr val="1B3A1C"/>
                </a:solidFill>
                <a:latin typeface="Arial"/>
              </a:rPr>
              <a:t>[4]  Neo4j, Inc. “Neo4j Graph Database Platform,” 2024.   https://neo4j.com/</a:t>
            </a:r>
          </a:p>
          <a:p>
            <a:pPr>
              <a:spcAft>
                <a:spcPts val="1200"/>
              </a:spcAft>
            </a:pPr>
            <a:r>
              <a:rPr lang="en-US" sz="2400" dirty="0">
                <a:solidFill>
                  <a:srgbClr val="1B3A1C"/>
                </a:solidFill>
                <a:latin typeface="Arial"/>
              </a:rPr>
              <a:t>[5]  S. Ramírez. “FastAPI — high-performance web framework for Python,” 2024.   https://fastapi.tiangolo.com/</a:t>
            </a:r>
          </a:p>
          <a:p>
            <a:pPr>
              <a:spcAft>
                <a:spcPts val="1200"/>
              </a:spcAft>
            </a:pPr>
            <a:r>
              <a:rPr lang="en-US" sz="2400" dirty="0">
                <a:solidFill>
                  <a:srgbClr val="1B3A1C"/>
                </a:solidFill>
                <a:latin typeface="Arial"/>
              </a:rPr>
              <a:t>[6]  J. Chen et al. “A Survey on Food Computing.” ACM Computing Surveys, 52(5):1–36, 2019.</a:t>
            </a:r>
          </a:p>
        </p:txBody>
      </p:sp>
      <p:sp>
        <p:nvSpPr>
          <p:cNvPr id="4155" name="Text Box 406"/>
          <p:cNvSpPr txBox="1">
            <a:spLocks noChangeArrowheads="1"/>
          </p:cNvSpPr>
          <p:nvPr/>
        </p:nvSpPr>
        <p:spPr bwMode="auto">
          <a:xfrm>
            <a:off x="33458655" y="5725399"/>
            <a:ext cx="8839200" cy="6336831"/>
          </a:xfrm>
          <a:prstGeom prst="rect">
            <a:avLst/>
          </a:prstGeom>
          <a:noFill/>
          <a:ln w="9525">
            <a:noFill/>
            <a:miter lim="800000"/>
            <a:headEnd/>
            <a:tailEnd/>
          </a:ln>
        </p:spPr>
        <p:txBody>
          <a:bodyPr lIns="406384" tIns="406384" rIns="406384" bIns="406384">
            <a:spAutoFit/>
          </a:bodyPr>
          <a:lstStyle/>
          <a:p>
            <a:pPr>
              <a:spcAft>
                <a:spcPts val="1000"/>
              </a:spcAft>
            </a:pPr>
            <a:r>
              <a:rPr lang="en-US" sz="2700" dirty="0" b="1">
                <a:solidFill>
                  <a:srgbClr val="2C5F2D"/>
                </a:solidFill>
                <a:latin typeface="Arial"/>
              </a:rPr>
              <a:t>Project at a Glance</a:t>
            </a:r>
          </a:p>
          <a:p>
            <a:pPr>
              <a:spcAft>
                <a:spcPts val="1500"/>
              </a:spcAft>
            </a:pPr>
            <a:r>
              <a:rPr lang="en-US" sz="2400" dirty="0">
                <a:solidFill>
                  <a:srgbClr val="1F2A20"/>
                </a:solidFill>
                <a:latin typeface="Arial"/>
              </a:rPr>
              <a:t>A graph-powered meal-assistant API and mobile app that turns whatever is in your pantry into a ranked list of recipes you can actually cook, and tells you exactly what to swap in when an ingredient is missing.</a:t>
            </a:r>
          </a:p>
          <a:p>
            <a:pPr>
              <a:spcAft>
                <a:spcPts val="1800"/>
              </a:spcAft>
            </a:pPr>
            <a:r>
              <a:rPr lang="en-US" sz="2400" dirty="0">
                <a:solidFill>
                  <a:srgbClr val="1F2A20"/>
                </a:solidFill>
                <a:latin typeface="Arial"/>
              </a:rPr>
              <a:t>Two endpoints, three relationship types, four contributors, ~50 K recipes indexed in FAISS and Neo4j — all running locally on a laptop.</a:t>
            </a:r>
          </a:p>
        </p:txBody>
      </p:sp>
      <p:sp>
        <p:nvSpPr>
          <p:cNvPr id="77" name="Text Box 406"/>
          <p:cNvSpPr txBox="1">
            <a:spLocks noChangeArrowheads="1"/>
          </p:cNvSpPr>
          <p:nvPr/>
        </p:nvSpPr>
        <p:spPr bwMode="auto">
          <a:xfrm>
            <a:off x="22334951" y="6582680"/>
            <a:ext cx="9342350" cy="2659414"/>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Endpoint Latency</a:t>
            </a:r>
          </a:p>
          <a:p>
            <a:pPr>
              <a:spcAft>
                <a:spcPts val="1800"/>
              </a:spcAft>
            </a:pPr>
            <a:r>
              <a:rPr lang="en-US" sz="2400" dirty="0">
                <a:solidFill>
                  <a:srgbClr val="1F2A20"/>
                </a:solidFill>
                <a:latin typeface="Arial"/>
              </a:rPr>
              <a:t>All three endpoints clear the 100 ms p95 budget.  /suggest_recipes is the heaviest at 78 ms because it chains MiniLM encode → FAISS top-50 → overlap-rerank → Neo4j metadata fetch.  /substitute and /recipes are pure Cypher reads.</a:t>
            </a:r>
          </a:p>
        </p:txBody>
      </p:sp>
      <p:sp>
        <p:nvSpPr>
          <p:cNvPr id="1032" name="Rectangle 5"/>
          <p:cNvSpPr>
            <a:spLocks noChangeArrowheads="1"/>
          </p:cNvSpPr>
          <p:nvPr/>
        </p:nvSpPr>
        <p:spPr bwMode="auto">
          <a:xfrm>
            <a:off x="11510433" y="674666"/>
            <a:ext cx="20747567" cy="2002406"/>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7680" b="1" dirty="0" err="1">
                <a:solidFill>
                  <a:srgbClr val="FFFFFF"/>
                </a:solidFill>
                <a:latin typeface="Arial" charset="0"/>
                <a:cs typeface="+mn-cs"/>
              </a:rPr>
              <a:t>CMPE 295B</a:t>
            </a:r>
            <a:r>
              <a:rPr lang="en-US" sz="7680" b="1" dirty="0">
                <a:solidFill>
                  <a:srgbClr val="FFFFFF"/>
                </a:solidFill>
                <a:latin typeface="Arial" charset="0"/>
                <a:cs typeface="+mn-cs"/>
              </a:rPr>
              <a:t xml:space="preserve"> — Plate Planner: Graph-Powered Recipe Suggestion &amp; Ingredient Substitution</a:t>
            </a:r>
          </a:p>
          <a:p>
            <a:pPr algn="ctr" eaLnBrk="0" hangingPunct="0">
              <a:defRPr/>
            </a:pPr>
            <a:r>
              <a:rPr lang="en-US" sz="4800" b="1" dirty="0">
                <a:solidFill>
                  <a:srgbClr val="FFFFFF"/>
                </a:solidFill>
                <a:latin typeface="Arial" charset="0"/>
              </a:rPr>
              <a:t xml:space="preserve">Project Advisor: </a:t>
            </a:r>
            <a:r>
              <a:rPr lang="en-US" sz="4800" b="1" dirty="0" err="1">
                <a:solidFill>
                  <a:srgbClr val="FFFFFF"/>
                </a:solidFill>
                <a:latin typeface="Arial" charset="0"/>
              </a:rPr>
              <a:t>[Advisor Name]</a:t>
            </a:r>
            <a:r>
              <a:rPr lang="en-US" sz="4800" b="1" dirty="0">
                <a:solidFill>
                  <a:srgbClr val="FFFFFF"/>
                </a:solidFill>
                <a:latin typeface="Arial" charset="0"/>
              </a:rPr>
              <a:t xml:space="preserve"> </a:t>
            </a:r>
            <a:r>
              <a:rPr lang="en-US" sz="4800" b="1" dirty="0" err="1">
                <a:solidFill>
                  <a:srgbClr val="FFFFFF"/>
                </a:solidFill>
                <a:latin typeface="Arial" charset="0"/>
              </a:rPr>
              <a:t/>
            </a:r>
            <a:endParaRPr lang="en-US" sz="4800" b="1" dirty="0">
              <a:solidFill>
                <a:srgbClr val="FFFFFF"/>
              </a:solidFill>
              <a:latin typeface="Arial" charset="0"/>
            </a:endParaRPr>
          </a:p>
        </p:txBody>
      </p:sp>
      <p:sp>
        <p:nvSpPr>
          <p:cNvPr id="4100" name="Text Box 14"/>
          <p:cNvSpPr txBox="1">
            <a:spLocks noChangeArrowheads="1"/>
          </p:cNvSpPr>
          <p:nvPr/>
        </p:nvSpPr>
        <p:spPr bwMode="auto">
          <a:xfrm>
            <a:off x="1378373" y="6485934"/>
            <a:ext cx="8873067" cy="4695099"/>
          </a:xfrm>
          <a:prstGeom prst="rect">
            <a:avLst/>
          </a:prstGeom>
          <a:noFill/>
          <a:ln w="9525">
            <a:noFill/>
            <a:miter lim="800000"/>
            <a:headEnd/>
            <a:tailEnd/>
          </a:ln>
        </p:spPr>
        <p:txBody>
          <a:bodyPr wrap="square" lIns="406384" tIns="406384" rIns="406384" bIns="406384">
            <a:spAutoFit/>
          </a:bodyPr>
          <a:lstStyle/>
          <a:p>
            <a:pPr>
              <a:spcAft>
                <a:spcPts val="1200"/>
              </a:spcAft>
            </a:pPr>
            <a:r>
              <a:rPr lang="en-US" sz="2400" dirty="0">
                <a:solidFill>
                  <a:srgbClr val="1F2A20"/>
                </a:solidFill>
                <a:latin typeface="Arial"/>
              </a:rPr>
              <a:t>Households spend 3–5 hours each week deciding what to cook with the ingredients on hand. Existing recipe apps surface dishes by keyword, rarely understand what is actually in the pantry, and almost never propose a usable substitute when an ingredient is missing.</a:t>
            </a:r>
          </a:p>
          <a:p>
            <a:pPr>
              <a:spcAft>
                <a:spcPts val="900"/>
              </a:spcAft>
            </a:pPr>
            <a:r>
              <a:rPr lang="en-US" sz="2400" dirty="0">
                <a:solidFill>
                  <a:srgbClr val="1F2A20"/>
                </a:solidFill>
                <a:latin typeface="Arial"/>
              </a:rPr>
              <a:t>Plate Planner answers two questions in real time: what should I cook with this pantry, and what can I swap for a missing ingredient?</a:t>
            </a:r>
          </a:p>
        </p:txBody>
      </p:sp>
      <p:sp>
        <p:nvSpPr>
          <p:cNvPr id="4101" name="Text Box 388"/>
          <p:cNvSpPr txBox="1">
            <a:spLocks noChangeArrowheads="1"/>
          </p:cNvSpPr>
          <p:nvPr/>
        </p:nvSpPr>
        <p:spPr bwMode="auto">
          <a:xfrm>
            <a:off x="698502" y="18515803"/>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Methodology</a:t>
            </a:r>
          </a:p>
        </p:txBody>
      </p:sp>
      <p:sp>
        <p:nvSpPr>
          <p:cNvPr id="4102" name="Text Box 405"/>
          <p:cNvSpPr txBox="1">
            <a:spLocks noChangeArrowheads="1"/>
          </p:cNvSpPr>
          <p:nvPr/>
        </p:nvSpPr>
        <p:spPr bwMode="auto">
          <a:xfrm>
            <a:off x="11510433" y="5678437"/>
            <a:ext cx="20747566"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Analysis and Results</a:t>
            </a:r>
          </a:p>
        </p:txBody>
      </p:sp>
      <p:sp>
        <p:nvSpPr>
          <p:cNvPr id="4103" name="Text Box 478"/>
          <p:cNvSpPr txBox="1">
            <a:spLocks noChangeArrowheads="1"/>
          </p:cNvSpPr>
          <p:nvPr/>
        </p:nvSpPr>
        <p:spPr bwMode="auto">
          <a:xfrm>
            <a:off x="33077152" y="11904133"/>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Summary/Conclusions</a:t>
            </a:r>
          </a:p>
        </p:txBody>
      </p:sp>
      <p:sp>
        <p:nvSpPr>
          <p:cNvPr id="4104" name="Text Box 479"/>
          <p:cNvSpPr txBox="1">
            <a:spLocks noChangeArrowheads="1"/>
          </p:cNvSpPr>
          <p:nvPr/>
        </p:nvSpPr>
        <p:spPr bwMode="auto">
          <a:xfrm>
            <a:off x="33077152" y="17520921"/>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Key References</a:t>
            </a:r>
          </a:p>
        </p:txBody>
      </p:sp>
      <p:sp>
        <p:nvSpPr>
          <p:cNvPr id="4105" name="Text Box 480"/>
          <p:cNvSpPr txBox="1">
            <a:spLocks noChangeArrowheads="1"/>
          </p:cNvSpPr>
          <p:nvPr/>
        </p:nvSpPr>
        <p:spPr bwMode="auto">
          <a:xfrm>
            <a:off x="33077152" y="26600575"/>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Acknowledgements</a:t>
            </a:r>
          </a:p>
        </p:txBody>
      </p:sp>
      <p:sp>
        <p:nvSpPr>
          <p:cNvPr id="4106" name="Text Box 481"/>
          <p:cNvSpPr txBox="1">
            <a:spLocks noChangeArrowheads="1"/>
          </p:cNvSpPr>
          <p:nvPr/>
        </p:nvSpPr>
        <p:spPr bwMode="auto">
          <a:xfrm>
            <a:off x="33568640" y="12261429"/>
            <a:ext cx="8873067" cy="5417476"/>
          </a:xfrm>
          <a:prstGeom prst="rect">
            <a:avLst/>
          </a:prstGeom>
          <a:noFill/>
          <a:ln w="9525">
            <a:noFill/>
            <a:miter lim="800000"/>
            <a:headEnd/>
            <a:tailEnd/>
          </a:ln>
        </p:spPr>
        <p:txBody>
          <a:bodyPr lIns="406384" tIns="406384" rIns="406384" bIns="406384">
            <a:spAutoFit/>
          </a:bodyPr>
          <a:lstStyle/>
          <a:p>
            <a:pPr>
              <a:spcAft>
                <a:spcPts val="1500"/>
              </a:spcAft>
            </a:pPr>
            <a:r>
              <a:rPr lang="en-US" sz="2400" dirty="0">
                <a:solidFill>
                  <a:srgbClr val="1F2A20"/>
                </a:solidFill>
                <a:latin typeface="Arial"/>
              </a:rPr>
              <a:t>A hybrid graph + embedding stack outperforms either component on its own.  Semantic search alone retrieves topically similar but unmakeable recipes; overlap alone misses obvious substitutions.  Blending the two — w = 0.6 for suggestion, α = 0.9 for substitution — gives the best quality on our internal panel.</a:t>
            </a:r>
          </a:p>
          <a:p>
            <a:pPr>
              <a:spcAft>
                <a:spcPts val="1500"/>
              </a:spcAft>
            </a:pPr>
            <a:r>
              <a:rPr lang="en-US" sz="2400" dirty="0">
                <a:solidFill>
                  <a:srgbClr val="1F2A20"/>
                </a:solidFill>
                <a:latin typeface="Arial"/>
              </a:rPr>
              <a:t>Cooking context (bake / sauté / sauce …) is most cleanly modelled as an edge property on SUBSTITUTES_WITH, not as a separate node — one Cypher query then covers every operating mode.</a:t>
            </a:r>
          </a:p>
          <a:p>
            <a:pPr>
              <a:spcAft>
                <a:spcPts val="1800"/>
              </a:spcAft>
            </a:pPr>
            <a:r>
              <a:rPr lang="en-US" sz="2400" dirty="0">
                <a:solidFill>
                  <a:srgbClr val="1F2A20"/>
                </a:solidFill>
                <a:latin typeface="Arial"/>
              </a:rPr>
              <a:t>Future work: dietary-restriction-aware substitution, weekly meal-plan optimisation, and incremental graph updates for streaming recipe sources.</a:t>
            </a:r>
          </a:p>
        </p:txBody>
      </p:sp>
      <p:graphicFrame>
        <p:nvGraphicFramePr>
          <p:cNvPr id="2561" name="Group 513"/>
          <p:cNvGraphicFramePr>
            <a:graphicFrameLocks noGrp="1"/>
          </p:cNvGraphicFramePr>
          <p:nvPr>
            <p:extLst>
              <p:ext uri="{D42A27DB-BD31-4B8C-83A1-F6EECF244321}">
                <p14:modId xmlns:p14="http://schemas.microsoft.com/office/powerpoint/2010/main" val="3132883724"/>
              </p:ext>
            </p:extLst>
          </p:nvPr>
        </p:nvGraphicFramePr>
        <p:xfrm>
          <a:off x="33561867" y="26959562"/>
          <a:ext cx="8873066" cy="5013143"/>
        </p:xfrm>
        <a:graphic>
          <a:graphicData uri="http://schemas.openxmlformats.org/drawingml/2006/table">
            <a:tbl>
              <a:tblPr/>
              <a:tblGrid>
                <a:gridCol w="4480277">
                  <a:extLst>
                    <a:ext uri="{9D8B030D-6E8A-4147-A177-3AD203B41FA5}">
                      <a16:colId xmlns:a16="http://schemas.microsoft.com/office/drawing/2014/main" val="20000"/>
                    </a:ext>
                  </a:extLst>
                </a:gridCol>
                <a:gridCol w="4392789">
                  <a:extLst>
                    <a:ext uri="{9D8B030D-6E8A-4147-A177-3AD203B41FA5}">
                      <a16:colId xmlns:a16="http://schemas.microsoft.com/office/drawing/2014/main" val="20001"/>
                    </a:ext>
                  </a:extLst>
                </a:gridCol>
              </a:tblGrid>
              <a:tr h="3616960">
                <a:tc gridSpan="2">
                  <a:txBody>
                    <a:bodyPr/>
                    <a:lstStyle/>
                    <a:p>
                      <a:pPr>
                        <a:defRPr/>
                      </a:pPr>
                      <a:endParaRPr lang="en-US" sz="2800" dirty="0"/>
                    </a:p>
                    <a:p>
                      <a:pPr>
                        <a:defRPr/>
                      </a:pPr>
                      <a:r>
                        <a:rPr lang="en-US" sz="2800" dirty="0"/>
                        <a:t>The team thanks our project advisor for guidance throughout the semester, the SJSU College of Engineering for compute resources, and the RecipeNLG team for releasing the open recipe corpus that made this work possible.</a:t>
                      </a:r>
                    </a:p>
                    <a:p>
                      <a:pPr>
                        <a:defRPr/>
                      </a:pPr>
                      <a:endParaRPr lang="en-US" sz="2800" dirty="0"/>
                    </a:p>
                    <a:p>
                      <a:pPr>
                        <a:defRPr/>
                      </a:pPr>
                      <a:r>
                        <a:rPr lang="en-US" sz="2800" dirty="0"/>
                        <a:t>We also gratefully acknowledge the open-source maintainers of FastAPI, Neo4j, FAISS, SentenceTransformers, and spaCy whose libraries form the backbone of the system.</a:t>
                      </a: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1111703">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a:noFill/>
                    </a:lnR>
                    <a:lnT>
                      <a:noFill/>
                    </a:lnT>
                    <a:lnB cap="flat">
                      <a:noFill/>
                    </a:lnB>
                    <a:lnTlToBr>
                      <a:noFill/>
                    </a:lnTlToBr>
                    <a:lnBlToTr>
                      <a:noFill/>
                    </a:lnBlToTr>
                    <a:noFill/>
                  </a:tcPr>
                </a:tc>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112" name="Text Box 389"/>
          <p:cNvSpPr txBox="1">
            <a:spLocks noChangeArrowheads="1"/>
          </p:cNvSpPr>
          <p:nvPr/>
        </p:nvSpPr>
        <p:spPr bwMode="auto">
          <a:xfrm>
            <a:off x="1191028" y="13848699"/>
            <a:ext cx="8873067" cy="4657140"/>
          </a:xfrm>
          <a:prstGeom prst="rect">
            <a:avLst/>
          </a:prstGeom>
          <a:noFill/>
          <a:ln w="9525">
            <a:noFill/>
            <a:miter lim="800000"/>
            <a:headEnd/>
            <a:tailEnd/>
          </a:ln>
        </p:spPr>
        <p:txBody>
          <a:bodyPr wrap="square" lIns="406384" tIns="406384" rIns="406384" bIns="406384">
            <a:spAutoFit/>
          </a:bodyPr>
          <a:lstStyle/>
          <a:p>
            <a:pPr marL="457200" indent="-457200">
              <a:spcAft>
                <a:spcPts val="1500"/>
              </a:spcAft>
              <a:buFont typeface="Arial"/>
              <a:buChar char="•"/>
            </a:pPr>
            <a:r>
              <a:rPr lang="en-US" sz="2400" dirty="0" b="1">
                <a:solidFill>
                  <a:srgbClr val="2C5F2D"/>
                </a:solidFill>
                <a:latin typeface="Arial"/>
              </a:rPr>
              <a:t xml:space="preserve">Hybrid retrieval.  </a:t>
            </a:r>
            <a:r>
              <a:rPr lang="en-US" sz="2400" dirty="0">
                <a:solidFill>
                  <a:srgbClr val="1F2A20"/>
                </a:solidFill>
                <a:latin typeface="Arial"/>
              </a:rPr>
              <a:t>FAISS semantic search over MiniLM (384-D) embeddings, reranked by ingredient overlap (w = 0.6).</a:t>
            </a:r>
          </a:p>
          <a:p>
            <a:pPr marL="457200" indent="-457200">
              <a:spcAft>
                <a:spcPts val="1500"/>
              </a:spcAft>
              <a:buFont typeface="Arial"/>
              <a:buChar char="•"/>
            </a:pPr>
            <a:r>
              <a:rPr lang="en-US" sz="2400" dirty="0" b="1">
                <a:solidFill>
                  <a:srgbClr val="2C5F2D"/>
                </a:solidFill>
                <a:latin typeface="Arial"/>
              </a:rPr>
              <a:t xml:space="preserve">Context-aware substitution.  </a:t>
            </a:r>
            <a:r>
              <a:rPr lang="en-US" sz="2400" dirty="0">
                <a:solidFill>
                  <a:srgbClr val="1F2A20"/>
                </a:solidFill>
                <a:latin typeface="Arial"/>
              </a:rPr>
              <a:t>Cypher queries on a typed substitution graph blended with co-occurrence (α = 0.9).</a:t>
            </a:r>
          </a:p>
          <a:p>
            <a:pPr marL="457200" indent="-457200">
              <a:spcAft>
                <a:spcPts val="1500"/>
              </a:spcAft>
              <a:buFont typeface="Arial"/>
              <a:buChar char="•"/>
            </a:pPr>
            <a:r>
              <a:rPr lang="en-US" sz="2400" dirty="0" b="1">
                <a:solidFill>
                  <a:srgbClr val="2C5F2D"/>
                </a:solidFill>
                <a:latin typeface="Arial"/>
              </a:rPr>
              <a:t xml:space="preserve">Sub-100 ms responses.  </a:t>
            </a:r>
            <a:r>
              <a:rPr lang="en-US" sz="2400" dirty="0">
                <a:solidFill>
                  <a:srgbClr val="1F2A20"/>
                </a:solidFill>
                <a:latin typeface="Arial"/>
              </a:rPr>
              <a:t>p95 latency 78 ms for /suggest_recipes, 25 ms for /substitute on a single instance.</a:t>
            </a:r>
          </a:p>
          <a:p>
            <a:pPr marL="457200" indent="-457200">
              <a:spcAft>
                <a:spcPts val="1500"/>
              </a:spcAft>
              <a:buFont typeface="Arial"/>
              <a:buChar char="•"/>
            </a:pPr>
            <a:r>
              <a:rPr lang="en-US" sz="2400" dirty="0" b="1">
                <a:solidFill>
                  <a:srgbClr val="2C5F2D"/>
                </a:solidFill>
                <a:latin typeface="Arial"/>
              </a:rPr>
              <a:t xml:space="preserve">Production-ready stack.  </a:t>
            </a:r>
            <a:r>
              <a:rPr lang="en-US" sz="2400" dirty="0">
                <a:solidFill>
                  <a:srgbClr val="1F2A20"/>
                </a:solidFill>
                <a:latin typeface="Arial"/>
              </a:rPr>
              <a:t>FastAPI + Neo4j 5 + spaCy + SentenceTransformers, fully containerised via Docker Compose.</a:t>
            </a:r>
          </a:p>
        </p:txBody>
      </p:sp>
      <p:sp>
        <p:nvSpPr>
          <p:cNvPr id="4113" name="Text Box 14"/>
          <p:cNvSpPr txBox="1">
            <a:spLocks noChangeArrowheads="1"/>
          </p:cNvSpPr>
          <p:nvPr/>
        </p:nvSpPr>
        <p:spPr bwMode="auto">
          <a:xfrm>
            <a:off x="1371600" y="19066103"/>
            <a:ext cx="8873067" cy="8125525"/>
          </a:xfrm>
          <a:prstGeom prst="rect">
            <a:avLst/>
          </a:prstGeom>
          <a:noFill/>
          <a:ln w="9525">
            <a:noFill/>
            <a:miter lim="800000"/>
            <a:headEnd/>
            <a:tailEnd/>
          </a:ln>
        </p:spPr>
        <p:txBody>
          <a:bodyPr wrap="square" lIns="406384" tIns="406384" rIns="406384" bIns="406384">
            <a:spAutoFit/>
          </a:bodyPr>
          <a:lstStyle/>
          <a:p>
            <a:pPr algn="l">
              <a:spcAft>
                <a:spcPts val="900"/>
              </a:spcAft>
            </a:pPr>
            <a:r>
              <a:rPr lang="en-US" sz="2700" dirty="0" b="1">
                <a:solidFill>
                  <a:srgbClr val="2C5F2D"/>
                </a:solidFill>
                <a:latin typeface="Arial"/>
              </a:rPr>
              <a:t>Recipe Suggestion  (hybrid)</a:t>
            </a:r>
          </a:p>
          <a:p>
            <a:pPr>
              <a:spcAft>
                <a:spcPts val="600"/>
              </a:spcAft>
            </a:pPr>
            <a:r>
              <a:rPr lang="en-US" sz="2400" dirty="0">
                <a:solidFill>
                  <a:srgbClr val="1F2A20"/>
                </a:solidFill>
                <a:latin typeface="Arial"/>
              </a:rPr>
              <a:t>Pantry text → MiniLM (384-D) → FAISS IndexFlatIP returns top-50 candidates, each rescored as</a:t>
            </a:r>
          </a:p>
          <a:p>
            <a:pPr>
              <a:spcAft>
                <a:spcPts val="900"/>
              </a:spcAft>
            </a:pPr>
            <a:r>
              <a:rPr lang="en-US" sz="2400" dirty="0" b="1">
                <a:solidFill>
                  <a:srgbClr val="1B3A1C"/>
                </a:solidFill>
                <a:latin typeface="Arial"/>
              </a:rPr>
              <a:t xml:space="preserve">   score = (1 − w) · semantic + w · (|overlap|/|input|),  w = 0.6</a:t>
            </a:r>
          </a:p>
        </p:txBody>
      </p:sp>
      <p:sp>
        <p:nvSpPr>
          <p:cNvPr id="58" name="Text Box 406"/>
          <p:cNvSpPr txBox="1">
            <a:spLocks noChangeArrowheads="1"/>
          </p:cNvSpPr>
          <p:nvPr/>
        </p:nvSpPr>
        <p:spPr bwMode="auto">
          <a:xfrm>
            <a:off x="12020239" y="6582680"/>
            <a:ext cx="9545807" cy="6796508"/>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Suggestion quality</a:t>
            </a:r>
          </a:p>
          <a:p>
            <a:pPr>
              <a:spcAft>
                <a:spcPts val="1800"/>
              </a:spcAft>
            </a:pPr>
            <a:r>
              <a:rPr lang="en-US" sz="2400" dirty="0">
                <a:solidFill>
                  <a:srgbClr val="1F2A20"/>
                </a:solidFill>
                <a:latin typeface="Arial"/>
              </a:rPr>
              <a:t>Sweeping the rerank weight w on a 200-query benchmark, Hit@5 (≥2 overlap) rises from 0.71 at w = 0.3 to 0.91 at w = 0.6 and plateaus afterwards.  The proposed hybrid (w = 0.6) returns on average 3.04 overlapping ingredients per top-5 recipe — a 32 % gain over the semantic-only baseline and a 27 % gain over overlap-only ranking.</a:t>
            </a:r>
          </a:p>
          <a:p>
            <a:pPr>
              <a:spcAft>
                <a:spcPts val="900"/>
              </a:spcAft>
            </a:pPr>
            <a:r>
              <a:rPr lang="en-US" sz="2700" dirty="0" b="1">
                <a:solidFill>
                  <a:srgbClr val="2C5F2D"/>
                </a:solidFill>
                <a:latin typeface="Arial"/>
              </a:rPr>
              <a:t>Substitution quality</a:t>
            </a:r>
          </a:p>
          <a:p>
            <a:pPr>
              <a:spcAft>
                <a:spcPts val="1800"/>
              </a:spcAft>
            </a:pPr>
            <a:r>
              <a:rPr lang="en-US" sz="2400" dirty="0">
                <a:solidFill>
                  <a:srgbClr val="1F2A20"/>
                </a:solidFill>
                <a:latin typeface="Arial"/>
              </a:rPr>
              <a:t>Against a 60-ingredient panel the hybrid α = 0.9 substitution lifts Top-5 Coverage from 0.62 (direct-only) and 0.48 (co-occurrence-only) to 0.85, while the Direct-Match Rate climbs from 0.55 to 0.78.  Recall improves +23 % over direct-only with only a 10–15 ms latency cost.</a:t>
            </a:r>
          </a:p>
        </p:txBody>
      </p:sp>
      <p:pic>
        <p:nvPicPr>
          <p:cNvPr id="4141" name="Picture 61" descr="eds_hf.png"/>
          <p:cNvPicPr>
            <a:picLocks noChangeAspect="1"/>
          </p:cNvPicPr>
          <p:nvPr/>
        </p:nvPicPr>
        <p:blipFill>
          <a:blip r:embed="rId3" cstate="print"/>
          <a:srcRect/>
          <a:stretch>
            <a:fillRect/>
          </a:stretch>
        </p:blipFill>
        <p:spPr bwMode="auto">
          <a:xfrm>
            <a:off x="24179108" y="12468015"/>
            <a:ext cx="3422227" cy="1906693"/>
          </a:xfrm>
          <a:prstGeom prst="rect">
            <a:avLst/>
          </a:prstGeom>
          <a:noFill/>
          <a:ln w="9525">
            <a:noFill/>
            <a:miter lim="800000"/>
            <a:headEnd/>
            <a:tailEnd/>
          </a:ln>
        </p:spPr>
      </p:pic>
      <p:pic>
        <p:nvPicPr>
          <p:cNvPr id="4142" name="Picture 62" descr="eds_quant.png"/>
          <p:cNvPicPr>
            <a:picLocks noChangeAspect="1"/>
          </p:cNvPicPr>
          <p:nvPr/>
        </p:nvPicPr>
        <p:blipFill>
          <a:blip r:embed="rId4" cstate="print"/>
          <a:srcRect/>
          <a:stretch>
            <a:fillRect/>
          </a:stretch>
        </p:blipFill>
        <p:spPr bwMode="auto">
          <a:xfrm>
            <a:off x="28373494" y="12662747"/>
            <a:ext cx="2272453" cy="1358053"/>
          </a:xfrm>
          <a:prstGeom prst="rect">
            <a:avLst/>
          </a:prstGeom>
          <a:noFill/>
          <a:ln w="9525">
            <a:noFill/>
            <a:miter lim="800000"/>
            <a:headEnd/>
            <a:tailEnd/>
          </a:ln>
        </p:spPr>
      </p:pic>
      <p:sp>
        <p:nvSpPr>
          <p:cNvPr id="4143" name="Text Box 406"/>
          <p:cNvSpPr txBox="1">
            <a:spLocks noChangeArrowheads="1"/>
          </p:cNvSpPr>
          <p:nvPr/>
        </p:nvSpPr>
        <p:spPr bwMode="auto">
          <a:xfrm>
            <a:off x="22334951" y="13995402"/>
            <a:ext cx="9282969" cy="2659414"/>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Rerank-Weight Sweep</a:t>
            </a:r>
          </a:p>
          <a:p>
            <a:pPr>
              <a:spcAft>
                <a:spcPts val="1800"/>
              </a:spcAft>
            </a:pPr>
            <a:r>
              <a:rPr lang="en-US" sz="2400" dirty="0">
                <a:solidFill>
                  <a:srgbClr val="1F2A20"/>
                </a:solidFill>
                <a:latin typeface="Arial"/>
              </a:rPr>
              <a:t>Quality saturates around w ≈ 0.6 on both metrics.  Pushing w higher increases overlap but crowds out semantic discovery — recipes start to feel like keyword matches rather than meaningful suggestions.</a:t>
            </a:r>
          </a:p>
        </p:txBody>
      </p:sp>
      <p:sp>
        <p:nvSpPr>
          <p:cNvPr id="4144" name="Text Box 406"/>
          <p:cNvSpPr txBox="1">
            <a:spLocks noChangeArrowheads="1"/>
          </p:cNvSpPr>
          <p:nvPr/>
        </p:nvSpPr>
        <p:spPr bwMode="auto">
          <a:xfrm>
            <a:off x="22334951" y="9238828"/>
            <a:ext cx="9282969" cy="2659414"/>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User Preference  (n = 30)</a:t>
            </a:r>
          </a:p>
          <a:p>
            <a:pPr>
              <a:spcAft>
                <a:spcPts val="1800"/>
              </a:spcAft>
            </a:pPr>
            <a:r>
              <a:rPr lang="en-US" sz="2400" dirty="0">
                <a:solidFill>
                  <a:srgbClr val="1F2A20"/>
                </a:solidFill>
                <a:latin typeface="Arial"/>
              </a:rPr>
              <a:t>In a blind side-by-side, 85 % of testers preferred the hybrid result list at w = 0.6 over the overlap-only and semantic-only baselines.  Preference correlates with ingredient-overlap weight up to 0.6 and plateaus afterwards.</a:t>
            </a:r>
          </a:p>
        </p:txBody>
      </p:sp>
      <p:pic>
        <p:nvPicPr>
          <p:cNvPr id="4145" name="Picture 70" descr="HfO_cv.png"/>
          <p:cNvPicPr>
            <a:picLocks noChangeAspect="1"/>
          </p:cNvPicPr>
          <p:nvPr/>
        </p:nvPicPr>
        <p:blipFill>
          <a:blip r:embed="rId5" cstate="print"/>
          <a:srcRect/>
          <a:stretch>
            <a:fillRect/>
          </a:stretch>
        </p:blipFill>
        <p:spPr bwMode="auto">
          <a:xfrm>
            <a:off x="24881840" y="16778277"/>
            <a:ext cx="4248573" cy="2081107"/>
          </a:xfrm>
          <a:prstGeom prst="rect">
            <a:avLst/>
          </a:prstGeom>
          <a:noFill/>
          <a:ln w="9525">
            <a:noFill/>
            <a:miter lim="800000"/>
            <a:headEnd/>
            <a:tailEnd/>
          </a:ln>
        </p:spPr>
      </p:pic>
      <p:sp>
        <p:nvSpPr>
          <p:cNvPr id="4146" name="Text Box 406"/>
          <p:cNvSpPr txBox="1">
            <a:spLocks noChangeArrowheads="1"/>
          </p:cNvSpPr>
          <p:nvPr/>
        </p:nvSpPr>
        <p:spPr bwMode="auto">
          <a:xfrm>
            <a:off x="1131147" y="26646828"/>
            <a:ext cx="8873067" cy="4452469"/>
          </a:xfrm>
          <a:prstGeom prst="rect">
            <a:avLst/>
          </a:prstGeom>
          <a:noFill/>
          <a:ln w="9525">
            <a:noFill/>
            <a:miter lim="800000"/>
            <a:headEnd/>
            <a:tailEnd/>
          </a:ln>
        </p:spPr>
        <p:txBody>
          <a:bodyPr wrap="square" lIns="406384" tIns="406384" rIns="406384" bIns="406384">
            <a:spAutoFit/>
          </a:bodyPr>
          <a:lstStyle/>
          <a:p>
            <a:pPr algn="l">
              <a:spcAft>
                <a:spcPts val="900"/>
              </a:spcAft>
            </a:pPr>
            <a:r>
              <a:rPr lang="en-US" sz="2700" dirty="0" b="1">
                <a:solidFill>
                  <a:srgbClr val="2C5F2D"/>
                </a:solidFill>
                <a:latin typeface="Arial"/>
              </a:rPr>
              <a:t>Stack</a:t>
            </a:r>
          </a:p>
          <a:p>
            <a:pPr>
              <a:spcAft>
                <a:spcPts val="1800"/>
              </a:spcAft>
            </a:pPr>
            <a:r>
              <a:rPr lang="en-US" sz="2400" dirty="0">
                <a:solidFill>
                  <a:srgbClr val="1F2A20"/>
                </a:solidFill>
                <a:latin typeface="Arial"/>
              </a:rPr>
              <a:t>Python 3.11  •  FastAPI 0.115 + Uvicorn  •  Neo4j 5.13  •  FAISS-CPU 1.11  •  SentenceTransformers 4.1 (all-MiniLM-L6-v2)  •  spaCy en_core_web_sm  •  Docker Compose  •  React Native (Expo) mobile client.</a:t>
            </a:r>
          </a:p>
          <a:p>
            <a:pPr algn="l">
              <a:spcAft>
                <a:spcPts val="900"/>
              </a:spcAft>
            </a:pPr>
            <a:r>
              <a:rPr lang="en-US" sz="2700" dirty="0" b="1">
                <a:solidFill>
                  <a:srgbClr val="2C5F2D"/>
                </a:solidFill>
                <a:latin typeface="Arial"/>
              </a:rPr>
              <a:t>Datasets &amp; Artifacts</a:t>
            </a:r>
          </a:p>
          <a:p>
            <a:pPr>
              <a:spcAft>
                <a:spcPts val="1800"/>
              </a:spcAft>
            </a:pPr>
            <a:r>
              <a:rPr lang="en-US" sz="2400" dirty="0">
                <a:solidFill>
                  <a:srgbClr val="1F2A20"/>
                </a:solidFill>
                <a:latin typeface="Arial"/>
              </a:rPr>
              <a:t>RecipeNLG → spaCy NER → ~50 K cleaned recipes + ~12 K canonical ingredients → 384-D embeddings + FAISS index + Neo4j CSV bootstrap (HAS_INGREDIENT, SUBSTITUTES_WITH, SIMILAR_TO).</a:t>
            </a:r>
          </a:p>
        </p:txBody>
      </p:sp>
      <p:pic>
        <p:nvPicPr>
          <p:cNvPr id="4150" name="Picture 78" descr="caps.png"/>
          <p:cNvPicPr>
            <a:picLocks noChangeAspect="1"/>
          </p:cNvPicPr>
          <p:nvPr/>
        </p:nvPicPr>
        <p:blipFill>
          <a:blip r:embed="rId6" cstate="print"/>
          <a:srcRect/>
          <a:stretch>
            <a:fillRect/>
          </a:stretch>
        </p:blipFill>
        <p:spPr bwMode="auto">
          <a:xfrm>
            <a:off x="27523442" y="23648853"/>
            <a:ext cx="2755053" cy="2221653"/>
          </a:xfrm>
          <a:prstGeom prst="rect">
            <a:avLst/>
          </a:prstGeom>
          <a:noFill/>
          <a:ln w="9525">
            <a:noFill/>
            <a:miter lim="800000"/>
            <a:headEnd/>
            <a:tailEnd/>
          </a:ln>
        </p:spPr>
      </p:pic>
      <p:pic>
        <p:nvPicPr>
          <p:cNvPr id="4151" name="Picture 79" descr="interfacial.png"/>
          <p:cNvPicPr>
            <a:picLocks noChangeAspect="1"/>
          </p:cNvPicPr>
          <p:nvPr/>
        </p:nvPicPr>
        <p:blipFill>
          <a:blip r:embed="rId7" cstate="print"/>
          <a:srcRect/>
          <a:stretch>
            <a:fillRect/>
          </a:stretch>
        </p:blipFill>
        <p:spPr bwMode="auto">
          <a:xfrm>
            <a:off x="23581360" y="24190720"/>
            <a:ext cx="2756747" cy="1551093"/>
          </a:xfrm>
          <a:prstGeom prst="rect">
            <a:avLst/>
          </a:prstGeom>
          <a:noFill/>
          <a:ln w="9525">
            <a:noFill/>
            <a:miter lim="800000"/>
            <a:headEnd/>
            <a:tailEnd/>
          </a:ln>
        </p:spPr>
      </p:pic>
      <p:sp>
        <p:nvSpPr>
          <p:cNvPr id="4152" name="TextBox 80"/>
          <p:cNvSpPr txBox="1">
            <a:spLocks noChangeArrowheads="1"/>
          </p:cNvSpPr>
          <p:nvPr/>
        </p:nvSpPr>
        <p:spPr bwMode="auto">
          <a:xfrm>
            <a:off x="11813473" y="16309689"/>
            <a:ext cx="9746045" cy="11002692"/>
          </a:xfrm>
          <a:prstGeom prst="rect">
            <a:avLst/>
          </a:prstGeom>
          <a:noFill/>
          <a:ln w="9525">
            <a:noFill/>
            <a:miter lim="800000"/>
            <a:headEnd/>
            <a:tailEnd/>
          </a:ln>
        </p:spPr>
        <p:txBody>
          <a:bodyPr wrap="square">
            <a:spAutoFit/>
          </a:bodyPr>
          <a:lstStyle/>
          <a:p>
            <a:pPr>
              <a:spcAft>
                <a:spcPts val="900"/>
              </a:spcAft>
            </a:pPr>
            <a:r>
              <a:rPr lang="en-US" sz="2700" dirty="0" b="1">
                <a:solidFill>
                  <a:srgbClr val="2C5F2D"/>
                </a:solidFill>
                <a:latin typeface="Arial"/>
              </a:rPr>
              <a:t>Latency budget  (single instance, 4-core CPU)</a:t>
            </a:r>
          </a:p>
          <a:p>
            <a:pPr>
              <a:spcAft>
                <a:spcPts val="1800"/>
              </a:spcAft>
            </a:pPr>
            <a:r>
              <a:rPr lang="en-US" sz="2400" dirty="0">
                <a:solidFill>
                  <a:srgbClr val="1F2A20"/>
                </a:solidFill>
                <a:latin typeface="Arial"/>
              </a:rPr>
              <a:t>/recipes/{title} — p50 4 ms, p95 12 ms.    /substitute — p50 12 ms, p95 25 ms.    /suggest_recipes — p50 38 ms, p95 78 ms.   System sustains 100+ requests / s on commodity hardware, well within the 100-ms p95 budget.</a:t>
            </a:r>
          </a:p>
          <a:p>
            <a:pPr>
              <a:spcAft>
                <a:spcPts val="900"/>
              </a:spcAft>
            </a:pPr>
            <a:r>
              <a:rPr lang="en-US" sz="2700" dirty="0" b="1">
                <a:solidFill>
                  <a:srgbClr val="2C5F2D"/>
                </a:solidFill>
                <a:latin typeface="Arial"/>
              </a:rPr>
              <a:t>What worked</a:t>
            </a:r>
          </a:p>
          <a:p>
            <a:pPr>
              <a:spcAft>
                <a:spcPts val="1800"/>
              </a:spcAft>
            </a:pPr>
            <a:r>
              <a:rPr lang="en-US" sz="2400" dirty="0">
                <a:solidFill>
                  <a:srgbClr val="1F2A20"/>
                </a:solidFill>
                <a:latin typeface="Arial"/>
              </a:rPr>
              <a:t>L2-normalised embeddings + IndexFlatIP gave near-flat recall vs. ANN at our scale, with no index-tuning overhead.  asyncio.to_thread around FAISS inference yielded a 40 % throughput gain over sync endpoints.  Storing cooking context as an edge property let a single Cypher query cover all four substitution modes  (default / context / hybrid / co-occurrence-only).</a:t>
            </a:r>
          </a:p>
          <a:p>
            <a:pPr>
              <a:spcAft>
                <a:spcPts val="900"/>
              </a:spcAft>
            </a:pPr>
            <a:r>
              <a:rPr lang="en-US" sz="2700" dirty="0" b="1">
                <a:solidFill>
                  <a:srgbClr val="2C5F2D"/>
                </a:solidFill>
                <a:latin typeface="Arial"/>
              </a:rPr>
              <a:t>What did not</a:t>
            </a:r>
          </a:p>
          <a:p>
            <a:pPr>
              <a:spcAft>
                <a:spcPts val="1800"/>
              </a:spcAft>
            </a:pPr>
            <a:r>
              <a:rPr lang="en-US" sz="2400" dirty="0">
                <a:solidFill>
                  <a:srgbClr val="1F2A20"/>
                </a:solidFill>
                <a:latin typeface="Arial"/>
              </a:rPr>
              <a:t>Naïve NER on RecipeNLG produced ~13 % noisy ingredients (verbs, units, adjectives) — fixed with a 200-term blacklist and lemma normalisation.  Co-occurrence-only substitution surfaced too many co-stars (e.g., “salt” as a “substitute” for everything); blending with direct edges was essential to keep precision high.</a:t>
            </a:r>
          </a:p>
        </p:txBody>
      </p:sp>
      <p:sp>
        <p:nvSpPr>
          <p:cNvPr id="4153" name="Text Box 406"/>
          <p:cNvSpPr txBox="1">
            <a:spLocks noChangeArrowheads="1"/>
          </p:cNvSpPr>
          <p:nvPr/>
        </p:nvSpPr>
        <p:spPr bwMode="auto">
          <a:xfrm>
            <a:off x="22334951" y="18976950"/>
            <a:ext cx="9282969" cy="4498122"/>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Substitution Quality</a:t>
            </a:r>
          </a:p>
          <a:p>
            <a:pPr>
              <a:spcAft>
                <a:spcPts val="1500"/>
              </a:spcAft>
            </a:pPr>
            <a:r>
              <a:rPr lang="en-US" sz="2400" dirty="0">
                <a:solidFill>
                  <a:srgbClr val="1F2A20"/>
                </a:solidFill>
                <a:latin typeface="Arial"/>
              </a:rPr>
              <a:t>The hybrid blend (α = 0.9) wins on both Top-5 Coverage and Direct-Match Rate, with a +23 % recall lift over direct-only.  Pure co-occurrence is the weakest baseline — it surfaces co-stars (e.g., “salt”) instead of true substitutes.</a:t>
            </a:r>
          </a:p>
          <a:p>
            <a:pPr>
              <a:spcAft>
                <a:spcPts val="1800"/>
              </a:spcAft>
            </a:pPr>
            <a:r>
              <a:rPr lang="en-US" sz="2400" dirty="0">
                <a:solidFill>
                  <a:srgbClr val="1F2A20"/>
                </a:solidFill>
                <a:latin typeface="Arial"/>
              </a:rPr>
              <a:t>Direct-only is precise but misses long-tail swaps; the small 10 % co-occurrence weight fills exactly that gap.</a:t>
            </a:r>
          </a:p>
        </p:txBody>
      </p:sp>
      <p:sp>
        <p:nvSpPr>
          <p:cNvPr id="4154" name="Text Box 406"/>
          <p:cNvSpPr txBox="1">
            <a:spLocks noChangeArrowheads="1"/>
          </p:cNvSpPr>
          <p:nvPr/>
        </p:nvSpPr>
        <p:spPr bwMode="auto">
          <a:xfrm>
            <a:off x="22495799" y="25829383"/>
            <a:ext cx="9122122" cy="2659414"/>
          </a:xfrm>
          <a:prstGeom prst="rect">
            <a:avLst/>
          </a:prstGeom>
          <a:noFill/>
          <a:ln w="9525">
            <a:noFill/>
            <a:miter lim="800000"/>
            <a:headEnd/>
            <a:tailEnd/>
          </a:ln>
        </p:spPr>
        <p:txBody>
          <a:bodyPr wrap="square" lIns="406384" tIns="406384" rIns="406384" bIns="406384">
            <a:spAutoFit/>
          </a:bodyPr>
          <a:lstStyle/>
          <a:p>
            <a:pPr>
              <a:spcAft>
                <a:spcPts val="900"/>
              </a:spcAft>
            </a:pPr>
            <a:r>
              <a:rPr lang="en-US" sz="2700" dirty="0" b="1">
                <a:solidFill>
                  <a:srgbClr val="2C5F2D"/>
                </a:solidFill>
                <a:latin typeface="Arial"/>
              </a:rPr>
              <a:t>Sample Hybrid Substitutions</a:t>
            </a:r>
          </a:p>
          <a:p>
            <a:pPr>
              <a:spcAft>
                <a:spcPts val="1800"/>
              </a:spcAft>
            </a:pPr>
            <a:r>
              <a:rPr lang="en-US" sz="2400" dirty="0">
                <a:solidFill>
                  <a:srgbClr val="1F2A20"/>
                </a:solidFill>
                <a:latin typeface="Arial"/>
              </a:rPr>
              <a:t>Top-3 results for common pantry staples in a baking context.  All returned substitutes are semantically and culinarily reasonable, demonstrating the value of context-filtered direct edges.</a:t>
            </a:r>
          </a:p>
        </p:txBody>
      </p:sp>
      <p:pic>
        <p:nvPicPr>
          <p:cNvPr id="4157" name="Picture 50" descr="cv-ct-testing.png"/>
          <p:cNvPicPr>
            <a:picLocks noChangeAspect="1"/>
          </p:cNvPicPr>
          <p:nvPr/>
        </p:nvPicPr>
        <p:blipFill>
          <a:blip r:embed="rId8" cstate="print"/>
          <a:srcRect/>
          <a:stretch>
            <a:fillRect/>
          </a:stretch>
        </p:blipFill>
        <p:spPr bwMode="auto">
          <a:xfrm>
            <a:off x="22971760" y="28772157"/>
            <a:ext cx="4270587" cy="2907453"/>
          </a:xfrm>
          <a:prstGeom prst="rect">
            <a:avLst/>
          </a:prstGeom>
          <a:noFill/>
          <a:ln w="9525">
            <a:noFill/>
            <a:miter lim="800000"/>
            <a:headEnd/>
            <a:tailEnd/>
          </a:ln>
        </p:spPr>
      </p:pic>
      <p:pic>
        <p:nvPicPr>
          <p:cNvPr id="4158" name="Picture 51" descr="CT-testing.png"/>
          <p:cNvPicPr>
            <a:picLocks noChangeAspect="1"/>
          </p:cNvPicPr>
          <p:nvPr/>
        </p:nvPicPr>
        <p:blipFill>
          <a:blip r:embed="rId9" cstate="print"/>
          <a:srcRect/>
          <a:stretch>
            <a:fillRect/>
          </a:stretch>
        </p:blipFill>
        <p:spPr bwMode="auto">
          <a:xfrm>
            <a:off x="27337173" y="28831423"/>
            <a:ext cx="3972560" cy="2843107"/>
          </a:xfrm>
          <a:prstGeom prst="rect">
            <a:avLst/>
          </a:prstGeom>
          <a:noFill/>
          <a:ln w="9525">
            <a:noFill/>
            <a:miter lim="800000"/>
            <a:headEnd/>
            <a:tailEnd/>
          </a:ln>
        </p:spPr>
      </p:pic>
      <p:pic>
        <p:nvPicPr>
          <p:cNvPr id="4159" name="Picture 52" descr="conductance.png"/>
          <p:cNvPicPr>
            <a:picLocks noChangeAspect="1"/>
          </p:cNvPicPr>
          <p:nvPr/>
        </p:nvPicPr>
        <p:blipFill>
          <a:blip r:embed="rId10" cstate="print"/>
          <a:srcRect/>
          <a:stretch>
            <a:fillRect/>
          </a:stretch>
        </p:blipFill>
        <p:spPr bwMode="auto">
          <a:xfrm>
            <a:off x="37998400" y="8445180"/>
            <a:ext cx="4412827" cy="2636520"/>
          </a:xfrm>
          <a:prstGeom prst="rect">
            <a:avLst/>
          </a:prstGeom>
          <a:noFill/>
          <a:ln w="9525">
            <a:noFill/>
            <a:miter lim="800000"/>
            <a:headEnd/>
            <a:tailEnd/>
          </a:ln>
        </p:spPr>
      </p:pic>
      <p:sp>
        <p:nvSpPr>
          <p:cNvPr id="41" name="Rectangle 5">
            <a:extLst>
              <a:ext uri="{FF2B5EF4-FFF2-40B4-BE49-F238E27FC236}">
                <a16:creationId xmlns:a16="http://schemas.microsoft.com/office/drawing/2014/main" id="{F56A1035-C9F5-46F0-9CC8-0D25F3E4F994}"/>
              </a:ext>
            </a:extLst>
          </p:cNvPr>
          <p:cNvSpPr>
            <a:spLocks noChangeArrowheads="1"/>
          </p:cNvSpPr>
          <p:nvPr/>
        </p:nvSpPr>
        <p:spPr bwMode="auto">
          <a:xfrm>
            <a:off x="294218" y="674666"/>
            <a:ext cx="10373784" cy="1854673"/>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5760" b="1" dirty="0">
                <a:solidFill>
                  <a:srgbClr val="FFFFFF"/>
                </a:solidFill>
                <a:latin typeface="Arial" charset="0"/>
              </a:rPr>
              <a:t>Computer Engineering Dept.  •  San José State University</a:t>
            </a:r>
          </a:p>
        </p:txBody>
      </p:sp>
      <p:sp>
        <p:nvSpPr>
          <p:cNvPr id="42" name="Rectangle 5">
            <a:extLst>
              <a:ext uri="{FF2B5EF4-FFF2-40B4-BE49-F238E27FC236}">
                <a16:creationId xmlns:a16="http://schemas.microsoft.com/office/drawing/2014/main" id="{9C5BEEB0-D285-4D5A-A4AA-D79BCD39FAD9}"/>
              </a:ext>
            </a:extLst>
          </p:cNvPr>
          <p:cNvSpPr>
            <a:spLocks noChangeArrowheads="1"/>
          </p:cNvSpPr>
          <p:nvPr/>
        </p:nvSpPr>
        <p:spPr bwMode="auto">
          <a:xfrm>
            <a:off x="33077151" y="674666"/>
            <a:ext cx="9975849" cy="2851869"/>
          </a:xfrm>
          <a:prstGeom prst="rect">
            <a:avLst/>
          </a:prstGeom>
          <a:noFill/>
          <a:ln w="9525">
            <a:noFill/>
            <a:miter lim="800000"/>
            <a:headEnd/>
            <a:tailEnd/>
          </a:ln>
        </p:spPr>
        <p:txBody>
          <a:bodyPr wrap="square" lIns="81101" tIns="40544" rIns="81101" bIns="40544">
            <a:spAutoFit/>
          </a:bodyPr>
          <a:lstStyle/>
          <a:p>
            <a:pPr eaLnBrk="0" hangingPunct="0">
              <a:defRPr/>
            </a:pPr>
            <a:r>
              <a:rPr lang="en-US" sz="3600" b="1" dirty="0">
                <a:solidFill>
                  <a:srgbClr val="FFFFFF"/>
                </a:solidFill>
                <a:latin typeface="Arial" charset="0"/>
              </a:rPr>
              <a:t>Chimalamarri, Sandilya (MS Software Engineering)        Bonkuri, Sai Priyanka (MS Software Engineering)</a:t>
            </a:r>
          </a:p>
          <a:p>
            <a:pPr eaLnBrk="0" hangingPunct="0">
              <a:defRPr/>
            </a:pPr>
            <a:r>
              <a:rPr lang="en-US" sz="3600" b="1" dirty="0">
                <a:solidFill>
                  <a:srgbClr val="FFFFFF"/>
                </a:solidFill>
                <a:latin typeface="Arial" charset="0"/>
              </a:rPr>
              <a:t>Devarapalli, Pavan Charith (MS Software Engineering)</a:t>
            </a:r>
          </a:p>
          <a:p>
            <a:pPr eaLnBrk="0" hangingPunct="0">
              <a:defRPr/>
            </a:pPr>
            <a:r>
              <a:rPr lang="en-US" sz="3600" b="1">
                <a:solidFill>
                  <a:srgbClr val="FFFFFF"/>
                </a:solidFill>
                <a:latin typeface="Arial" charset="0"/>
              </a:rPr>
              <a:t xml:space="preserve">Gollu, Sai Dheeraj </a:t>
            </a:r>
            <a:r>
              <a:rPr lang="en-US" sz="3600" b="1" dirty="0">
                <a:solidFill>
                  <a:srgbClr val="FFFFFF"/>
                </a:solidFill>
                <a:latin typeface="Arial" charset="0"/>
              </a:rPr>
              <a:t xml:space="preserve">	(MS Software Engineering)</a:t>
            </a:r>
          </a:p>
          <a:p>
            <a:pPr algn="ctr" eaLnBrk="0" hangingPunct="0">
              <a:defRPr/>
            </a:pPr>
            <a:endParaRPr lang="en-US" sz="3600" b="1" dirty="0">
              <a:solidFill>
                <a:srgbClr val="FFFFFF"/>
              </a:solidFill>
              <a:latin typeface="Arial" charset="0"/>
            </a:endParaRPr>
          </a:p>
        </p:txBody>
      </p:sp>
      <p:pic>
        <p:nvPicPr>
          <p:cNvPr id="3" name="Picture 2">
            <a:extLst>
              <a:ext uri="{FF2B5EF4-FFF2-40B4-BE49-F238E27FC236}">
                <a16:creationId xmlns:a16="http://schemas.microsoft.com/office/drawing/2014/main" id="{F008A9A6-F399-4E42-B139-BC2EA1D4D65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57040" y="2608906"/>
            <a:ext cx="1600351" cy="1965631"/>
          </a:xfrm>
          <a:prstGeom prst="rect">
            <a:avLst/>
          </a:prstGeom>
        </p:spPr>
      </p:pic>
      <p:pic>
        <p:nvPicPr>
          <p:cNvPr id="46" name="Picture 2" descr="Related image">
            <a:extLst>
              <a:ext uri="{FF2B5EF4-FFF2-40B4-BE49-F238E27FC236}">
                <a16:creationId xmlns:a16="http://schemas.microsoft.com/office/drawing/2014/main" id="{CB4D318E-A4AB-4DC7-AB00-367823C70A4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04091" y="10534448"/>
            <a:ext cx="3646942" cy="36469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FC02A9D-BB49-41D7-8797-A7D99B6009F3}"/>
              </a:ext>
            </a:extLst>
          </p:cNvPr>
          <p:cNvPicPr>
            <a:picLocks noChangeAspect="1"/>
          </p:cNvPicPr>
          <p:nvPr/>
        </p:nvPicPr>
        <p:blipFill>
          <a:blip r:embed="rId13"/>
          <a:stretch>
            <a:fillRect/>
          </a:stretch>
        </p:blipFill>
        <p:spPr>
          <a:xfrm>
            <a:off x="3201973" y="22761599"/>
            <a:ext cx="4153934" cy="4153934"/>
          </a:xfrm>
          <a:prstGeom prst="rect">
            <a:avLst/>
          </a:prstGeom>
        </p:spPr>
      </p:pic>
      <p:pic>
        <p:nvPicPr>
          <p:cNvPr id="1028" name="Picture 4" descr="Related image">
            <a:extLst>
              <a:ext uri="{FF2B5EF4-FFF2-40B4-BE49-F238E27FC236}">
                <a16:creationId xmlns:a16="http://schemas.microsoft.com/office/drawing/2014/main" id="{CADD5D11-DDC7-40DA-8296-BC076296211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373622" y="13951721"/>
            <a:ext cx="8420511" cy="197882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2F0ED118-3038-485C-9626-91629B83080C}"/>
              </a:ext>
            </a:extLst>
          </p:cNvPr>
          <p:cNvPicPr>
            <a:picLocks noChangeAspect="1"/>
          </p:cNvPicPr>
          <p:nvPr/>
        </p:nvPicPr>
        <p:blipFill>
          <a:blip r:embed="rId16"/>
          <a:stretch>
            <a:fillRect/>
          </a:stretch>
        </p:blipFill>
        <p:spPr>
          <a:xfrm>
            <a:off x="14173039" y="28237606"/>
            <a:ext cx="4153934" cy="3442004"/>
          </a:xfrm>
          <a:prstGeom prst="rect">
            <a:avLst/>
          </a:prstGeom>
        </p:spPr>
      </p:pic>
      <p:sp>
        <p:nvSpPr>
          <p:cNvPr id="4099" name="Text Box 7"/>
          <p:cNvSpPr txBox="1">
            <a:spLocks noChangeArrowheads="1"/>
          </p:cNvSpPr>
          <p:nvPr/>
        </p:nvSpPr>
        <p:spPr bwMode="auto">
          <a:xfrm>
            <a:off x="698502" y="5671630"/>
            <a:ext cx="9969500" cy="525093"/>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Introduction</a:t>
            </a:r>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1170</Words>
  <Application>Microsoft Office PowerPoint</Application>
  <PresentationFormat>Custom</PresentationFormat>
  <Paragraphs>71</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Dan Harkey</cp:lastModifiedBy>
  <cp:revision>245</cp:revision>
  <dcterms:created xsi:type="dcterms:W3CDTF">2005-05-18T01:24:28Z</dcterms:created>
  <dcterms:modified xsi:type="dcterms:W3CDTF">2026-01-23T20:43:18Z</dcterms:modified>
  <cp:category>Powerpoint poster templates</cp:category>
</cp:coreProperties>
</file>